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1 / 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4864" cy="1463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Agentic-TrailGPT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Agents for Improved Clinical Trial Matching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TrialGPT with Assertion, Clarification &amp; Verification Agents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3200400" cy="18288"/>
          </a:xfrm>
          <a:prstGeom prst="rect">
            <a:avLst/>
          </a:prstGeom>
          <a:solidFill>
            <a:srgbClr val="2A4A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Presentation  |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</a:rPr>
              <a:t>2 /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EE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are critical for medical advancement, yet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trials fail to meet enrollment targets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time.</a:t>
            </a:r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TrialGPT (Nature, 2024) automates patient-trial matching with LLMs, but still produces errors in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~13% of criterion-level decisions.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EE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8348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Error Categories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83480" y="1874520"/>
            <a:ext cx="365760" cy="365760"/>
          </a:xfrm>
          <a:prstGeom prst="ellipse">
            <a:avLst/>
          </a:prstGeom>
          <a:solidFill>
            <a:srgbClr val="1354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834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874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reasoning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0756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30.7%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2514600"/>
            <a:ext cx="365760" cy="365760"/>
          </a:xfrm>
          <a:prstGeom prst="ellipse">
            <a:avLst/>
          </a:prstGeom>
          <a:solidFill>
            <a:srgbClr val="1354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834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5146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knowledge gaps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7157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3154680"/>
            <a:ext cx="365760" cy="365760"/>
          </a:xfrm>
          <a:prstGeom prst="ellipse">
            <a:avLst/>
          </a:prstGeom>
          <a:solidFill>
            <a:srgbClr val="13547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834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154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ambiguity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3558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3480" y="3794760"/>
            <a:ext cx="365760" cy="365760"/>
          </a:xfrm>
          <a:prstGeom prst="ellipse">
            <a:avLst/>
          </a:prstGeom>
          <a:solidFill>
            <a:srgbClr val="13547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8348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7947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confusion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3995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Jin et al., Nature Communications (2024)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</a:rPr>
              <a:t>3 /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Three Novel Agents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agents that refine TrialGPT's criterion-level decisions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91640"/>
            <a:ext cx="411480" cy="411480"/>
          </a:xfrm>
          <a:prstGeom prst="ellipse">
            <a:avLst/>
          </a:prstGeom>
          <a:solidFill>
            <a:srgbClr val="1354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Agent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42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Usability Filter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03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every evidence sentence by subject (patient vs. family), polarity (affirmed vs. negated), and temporality. Filters out unusable evidence like family history cited as patient facts.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E4 errors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5087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6916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Agent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542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Evidence-Gap Re-Search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28803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baseline says 'not enough information,' re-searches the same patient note with targeted queries to find overlooked evidence. Does not invent facts or access new data.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E1, E2 errors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5087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1691640"/>
            <a:ext cx="411480" cy="41148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Agent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2542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Entailment Check &amp; Correction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28803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the chosen label is actually supported by the evidence and explanation. Corrects contradictions and flags uncertain decisions for human review.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E3 errors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</a:rPr>
              <a:t>4 /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Agent — 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EE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Classification Dimensions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| family | other | unclear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affirmed | negated | hypothetical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14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Temporality: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| historical | future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EEF5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8348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16459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"Must NOT have diabetes"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Father has type 2 diabetes
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subject=family  DROPPED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No history of diabetes in patient
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subject=patient, negated  KEPT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EEF5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Agent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6393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baseline labels 'not enough info,' builds targeted queries and re-searches the patient note. Finds overlooked evidence without inventing new data.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324612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EEF5F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8348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Agent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36393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the label is actually supported by the evidence. Issues verdicts: verified, unsupported, contradicted, or uncertain. Corrects labels when evidence disagrees.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</a:rPr>
              <a:t>5 /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5A6B7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71600" y="2830068"/>
            <a:ext cx="137160" cy="146304"/>
          </a:xfrm>
          <a:prstGeom prst="rightArrow">
            <a:avLst/>
          </a:prstGeom>
          <a:solidFill>
            <a:srgbClr val="B0BEC5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256032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6B7D8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0876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23160" y="2830068"/>
            <a:ext cx="137160" cy="146304"/>
          </a:xfrm>
          <a:prstGeom prst="rightArrow">
            <a:avLst/>
          </a:prstGeom>
          <a:solidFill>
            <a:srgbClr val="B0BEC5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0" y="256032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6B7D8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56032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0" y="2830068"/>
            <a:ext cx="137160" cy="146304"/>
          </a:xfrm>
          <a:prstGeom prst="rightArrow">
            <a:avLst/>
          </a:prstGeom>
          <a:solidFill>
            <a:srgbClr val="B0BEC5"/>
          </a:solidFill>
          <a:ln/>
        </p:spPr>
      </p:sp>
      <p:sp>
        <p:nvSpPr>
          <p:cNvPr id="16" name="Shape 14"/>
          <p:cNvSpPr/>
          <p:nvPr/>
        </p:nvSpPr>
        <p:spPr>
          <a:xfrm>
            <a:off x="3611880" y="256032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1354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1188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26280" y="2830068"/>
            <a:ext cx="137160" cy="146304"/>
          </a:xfrm>
          <a:prstGeom prst="rightArrow">
            <a:avLst/>
          </a:prstGeom>
          <a:solidFill>
            <a:srgbClr val="B0BEC5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256032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6344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577840" y="2830068"/>
            <a:ext cx="137160" cy="146304"/>
          </a:xfrm>
          <a:prstGeom prst="rightArrow">
            <a:avLst/>
          </a:prstGeom>
          <a:solidFill>
            <a:srgbClr val="B0BEC5"/>
          </a:solidFill>
          <a:ln/>
        </p:spPr>
      </p:sp>
      <p:sp>
        <p:nvSpPr>
          <p:cNvPr id="24" name="Shape 22"/>
          <p:cNvSpPr/>
          <p:nvPr/>
        </p:nvSpPr>
        <p:spPr>
          <a:xfrm>
            <a:off x="5715000" y="256032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0E8C6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71500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71500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629400" y="2830068"/>
            <a:ext cx="137160" cy="146304"/>
          </a:xfrm>
          <a:prstGeom prst="rightArrow">
            <a:avLst/>
          </a:prstGeom>
          <a:solidFill>
            <a:srgbClr val="B0BEC5"/>
          </a:solidFill>
          <a:ln/>
        </p:spPr>
      </p:sp>
      <p:sp>
        <p:nvSpPr>
          <p:cNvPr id="28" name="Shape 26"/>
          <p:cNvSpPr/>
          <p:nvPr/>
        </p:nvSpPr>
        <p:spPr>
          <a:xfrm>
            <a:off x="6766560" y="256032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6B7D8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Ranking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80960" y="2830068"/>
            <a:ext cx="137160" cy="146304"/>
          </a:xfrm>
          <a:prstGeom prst="rightArrow">
            <a:avLst/>
          </a:prstGeom>
          <a:solidFill>
            <a:srgbClr val="B0BEC5"/>
          </a:solidFill>
          <a:ln/>
        </p:spPr>
      </p:sp>
      <p:sp>
        <p:nvSpPr>
          <p:cNvPr id="32" name="Shape 30"/>
          <p:cNvSpPr/>
          <p:nvPr/>
        </p:nvSpPr>
        <p:spPr>
          <a:xfrm>
            <a:off x="7818120" y="256032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02C39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81812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81812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11880" y="3337560"/>
            <a:ext cx="3017520" cy="27432"/>
          </a:xfrm>
          <a:prstGeom prst="rect">
            <a:avLst/>
          </a:prstGeom>
          <a:solidFill>
            <a:srgbClr val="13547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61188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Agent Enhancement Layer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3657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EEF5F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note + retrieved trials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per-criterion LLM judgments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assertion filtering → gap re-search → verification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corrected labels + audit trail → trial ranking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</a:rPr>
              <a:t>6 /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SIGIR 2016 benchmark  |  4 patients  |  1,663 criterion decisions  |  Qwen 27B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4173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51760" y="1463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148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54880" y="1463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148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4173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0" y="1463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2148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Fixed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8046720" cy="1828800"/>
          </a:xfrm>
          <a:prstGeom prst="roundRect">
            <a:avLst>
              <a:gd name="adj" fmla="val 5000"/>
            </a:avLst>
          </a:prstGeom>
          <a:solidFill>
            <a:srgbClr val="EEF5F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Correction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24612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"Severe hepatic insufficiency" (exclusion)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excluded" — assumed absence = safe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— absence of mention ≠ evidence of absence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enough information" — requires lab confirmation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</a:rPr>
              <a:t>7 /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E857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≠ Evidence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600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corrections (19/26) changed 'not excluded' to 'not enough information.' The baseline incorrectly treats missing info in a patient note as evidence the condition is absent.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651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514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Recovers Evidence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834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Clarification Agent triggered 14 times and successfully found overlooked evidence in the patient note, enabling more informed decisions.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E8A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Catches Real Errors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069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direct contradictions caught: e.g., baseline using cardiac evaluation to judge antidepressant intolerance. The verifier correctly identified irrelevant reasoning.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</a:rPr>
              <a:t>8 /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371600"/>
            <a:ext cx="868680" cy="868680"/>
          </a:xfrm>
          <a:prstGeom prst="ellipse">
            <a:avLst/>
          </a:prstGeom>
          <a:solidFill>
            <a:srgbClr val="1354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06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Agent &amp; Data Pipeline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7180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the Assertion Agent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evidence classification (subject, polarity, temporality)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data preprocessing and sentence parsing pipeline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patient note segmentation and indexing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3716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51960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606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Agent &amp; Integration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97180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the Clarification Agent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targeted query generation for evidence re-search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all three agents into the orchestration pipeline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API integration with Groq/LLM backend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86600" y="1371600"/>
            <a:ext cx="868680" cy="86868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86600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606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Agent &amp; Evaluation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97180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the Verifier Agent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entailment checking and label correction logic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experimental evaluation on SIGIR benchmark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comparison framework and result analysis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Replace 'Team Member 1/2/3' with actual names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9 / 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Agentic-TrailGPT demonstrates that targeted post-processing agents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catch and correct real errors in LLM-based clinical trial matching.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evaluation on TREC 2021/2022 datasets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studies for each agent's individual impact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clinical trial registries for real-world deployment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domain-specific medical LLMs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Agentic-TrailGPT</dc:title>
  <dc:subject>PptxGenJS Presentation</dc:subject>
  <dc:creator>Agentic-TrailGPT Team</dc:creator>
  <cp:lastModifiedBy>Agentic-TrailGPT Team</cp:lastModifiedBy>
  <cp:revision>1</cp:revision>
  <dcterms:created xsi:type="dcterms:W3CDTF">2026-09-01T04:13:44Z</dcterms:created>
  <dcterms:modified xsi:type="dcterms:W3CDTF">2026-09-01T04:13:44Z</dcterms:modified>
</cp:coreProperties>
</file>